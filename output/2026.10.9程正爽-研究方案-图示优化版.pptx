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23765E"/>
                </a:solidFill>
                <a:latin typeface="Noto Sans CJK SC"/>
              </a:rPr>
              <a:t>4.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4688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0">
                <a:solidFill>
                  <a:srgbClr val="60746D"/>
                </a:solidFill>
                <a:latin typeface="Noto Sans CJK SC"/>
              </a:rPr>
              <a:t>1/4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73C36"/>
                </a:solidFill>
                <a:latin typeface="Noto Sans CJK SC"/>
              </a:rPr>
              <a:t>4.1 玉米长势获取与空间差异分析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2700">
            <a:solidFill>
              <a:srgbClr val="D5E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6272784"/>
            <a:ext cx="11183112" cy="365760"/>
          </a:xfrm>
          <a:prstGeom prst="roundRect">
            <a:avLst>
              <a:gd name="adj" fmla="val 12000"/>
            </a:avLst>
          </a:prstGeom>
          <a:solidFill>
            <a:srgbClr val="17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27648"/>
            <a:ext cx="10835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FFFFFF"/>
                </a:solidFill>
                <a:latin typeface="Noto Sans CJK SC"/>
              </a:rPr>
              <a:t>通过多生育期无人机监测与田间实测，明确地块内部玉米长势差异及其生育期变化。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18488"/>
            <a:ext cx="41148" cy="182880"/>
          </a:xfrm>
          <a:prstGeom prst="roundRect">
            <a:avLst>
              <a:gd name="adj" fmla="val 12000"/>
            </a:avLst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819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173C36"/>
                </a:solidFill>
                <a:latin typeface="Noto Sans CJK SC"/>
              </a:rPr>
              <a:t>多生育期监测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65960"/>
            <a:ext cx="6995160" cy="1572768"/>
          </a:xfrm>
          <a:prstGeom prst="roundRect">
            <a:avLst>
              <a:gd name="adj" fmla="val 12000"/>
            </a:avLst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1408176" y="2377439"/>
            <a:ext cx="0" cy="393193"/>
          </a:xfrm>
          <a:prstGeom prst="line">
            <a:avLst/>
          </a:prstGeom>
          <a:ln w="3175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1208196" y="2573121"/>
            <a:ext cx="199980" cy="118872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135044" y="2573121"/>
            <a:ext cx="73152" cy="27432"/>
          </a:xfrm>
          <a:prstGeom prst="line">
            <a:avLst/>
          </a:prstGeom>
          <a:ln w="1651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08176" y="2618841"/>
            <a:ext cx="199979" cy="114300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08196" y="2317546"/>
            <a:ext cx="199980" cy="118872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135044" y="2317546"/>
            <a:ext cx="73152" cy="27432"/>
          </a:xfrm>
          <a:prstGeom prst="line">
            <a:avLst/>
          </a:prstGeom>
          <a:ln w="1651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408176" y="2363266"/>
            <a:ext cx="199979" cy="114300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0936" y="286207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1">
                <a:solidFill>
                  <a:srgbClr val="173C36"/>
                </a:solidFill>
                <a:latin typeface="Noto Sans CJK SC"/>
              </a:rPr>
              <a:t>六叶期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3191256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60746D"/>
                </a:solidFill>
                <a:latin typeface="Noto Sans CJK SC"/>
              </a:rPr>
              <a:t>营养生长前期</a:t>
            </a:r>
          </a:p>
        </p:txBody>
      </p:sp>
      <p:sp>
        <p:nvSpPr>
          <p:cNvPr id="20" name="Chevron 19"/>
          <p:cNvSpPr/>
          <p:nvPr/>
        </p:nvSpPr>
        <p:spPr>
          <a:xfrm>
            <a:off x="2103120" y="2414016"/>
            <a:ext cx="201168" cy="164592"/>
          </a:xfrm>
          <a:prstGeom prst="chevron">
            <a:avLst/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3163824" y="2258568"/>
            <a:ext cx="0" cy="512064"/>
          </a:xfrm>
          <a:prstGeom prst="line">
            <a:avLst/>
          </a:prstGeom>
          <a:ln w="3175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2953146" y="2549347"/>
            <a:ext cx="210678" cy="118872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879994" y="2549347"/>
            <a:ext cx="73152" cy="27432"/>
          </a:xfrm>
          <a:prstGeom prst="line">
            <a:avLst/>
          </a:prstGeom>
          <a:ln w="1651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163824" y="2595067"/>
            <a:ext cx="210677" cy="114300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953146" y="2382926"/>
            <a:ext cx="210678" cy="118872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879994" y="2382926"/>
            <a:ext cx="73152" cy="27432"/>
          </a:xfrm>
          <a:prstGeom prst="line">
            <a:avLst/>
          </a:prstGeom>
          <a:ln w="1651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163824" y="2428646"/>
            <a:ext cx="210677" cy="114300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953146" y="2216505"/>
            <a:ext cx="210678" cy="118872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879994" y="2216505"/>
            <a:ext cx="73152" cy="27432"/>
          </a:xfrm>
          <a:prstGeom prst="line">
            <a:avLst/>
          </a:prstGeom>
          <a:ln w="1651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163824" y="2262225"/>
            <a:ext cx="210677" cy="114300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86584" y="286207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1">
                <a:solidFill>
                  <a:srgbClr val="173C36"/>
                </a:solidFill>
                <a:latin typeface="Noto Sans CJK SC"/>
              </a:rPr>
              <a:t>十二叶期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40864" y="3191256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60746D"/>
                </a:solidFill>
                <a:latin typeface="Noto Sans CJK SC"/>
              </a:rPr>
              <a:t>快速生长期</a:t>
            </a:r>
          </a:p>
        </p:txBody>
      </p:sp>
      <p:sp>
        <p:nvSpPr>
          <p:cNvPr id="33" name="Chevron 32"/>
          <p:cNvSpPr/>
          <p:nvPr/>
        </p:nvSpPr>
        <p:spPr>
          <a:xfrm>
            <a:off x="3858768" y="2414016"/>
            <a:ext cx="201168" cy="164592"/>
          </a:xfrm>
          <a:prstGeom prst="chevron">
            <a:avLst/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4919472" y="2139696"/>
            <a:ext cx="0" cy="630936"/>
          </a:xfrm>
          <a:prstGeom prst="line">
            <a:avLst/>
          </a:prstGeom>
          <a:ln w="3175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4698095" y="2525572"/>
            <a:ext cx="221377" cy="118872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4624943" y="2525572"/>
            <a:ext cx="73152" cy="27432"/>
          </a:xfrm>
          <a:prstGeom prst="line">
            <a:avLst/>
          </a:prstGeom>
          <a:ln w="1651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919472" y="2571292"/>
            <a:ext cx="221376" cy="114300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4698095" y="2388870"/>
            <a:ext cx="221377" cy="118871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4624943" y="2388870"/>
            <a:ext cx="73152" cy="27431"/>
          </a:xfrm>
          <a:prstGeom prst="line">
            <a:avLst/>
          </a:prstGeom>
          <a:ln w="1651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919472" y="2434589"/>
            <a:ext cx="221376" cy="114300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4698095" y="2252167"/>
            <a:ext cx="221377" cy="118872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4624943" y="2252167"/>
            <a:ext cx="73152" cy="27432"/>
          </a:xfrm>
          <a:prstGeom prst="line">
            <a:avLst/>
          </a:prstGeom>
          <a:ln w="1651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919472" y="2297887"/>
            <a:ext cx="221376" cy="114300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4698095" y="2115464"/>
            <a:ext cx="221377" cy="118872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4624943" y="2115464"/>
            <a:ext cx="73152" cy="27432"/>
          </a:xfrm>
          <a:prstGeom prst="line">
            <a:avLst/>
          </a:prstGeom>
          <a:ln w="1651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919472" y="2161184"/>
            <a:ext cx="221376" cy="114300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4809744" y="2002536"/>
            <a:ext cx="109728" cy="137160"/>
          </a:xfrm>
          <a:prstGeom prst="line">
            <a:avLst/>
          </a:prstGeom>
          <a:ln w="16510">
            <a:solidFill>
              <a:srgbClr val="B984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919472" y="2002536"/>
            <a:ext cx="0" cy="137160"/>
          </a:xfrm>
          <a:prstGeom prst="line">
            <a:avLst/>
          </a:prstGeom>
          <a:ln w="16510">
            <a:solidFill>
              <a:srgbClr val="B984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19472" y="2002536"/>
            <a:ext cx="109728" cy="137160"/>
          </a:xfrm>
          <a:prstGeom prst="line">
            <a:avLst/>
          </a:prstGeom>
          <a:ln w="16510">
            <a:solidFill>
              <a:srgbClr val="B984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142232" y="286207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1">
                <a:solidFill>
                  <a:srgbClr val="173C36"/>
                </a:solidFill>
                <a:latin typeface="Noto Sans CJK SC"/>
              </a:rPr>
              <a:t>吐丝期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96511" y="3191256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60746D"/>
                </a:solidFill>
                <a:latin typeface="Noto Sans CJK SC"/>
              </a:rPr>
              <a:t>生殖生长关键期</a:t>
            </a:r>
          </a:p>
        </p:txBody>
      </p:sp>
      <p:sp>
        <p:nvSpPr>
          <p:cNvPr id="52" name="Chevron 51"/>
          <p:cNvSpPr/>
          <p:nvPr/>
        </p:nvSpPr>
        <p:spPr>
          <a:xfrm>
            <a:off x="5614416" y="2414016"/>
            <a:ext cx="201168" cy="164592"/>
          </a:xfrm>
          <a:prstGeom prst="chevron">
            <a:avLst/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V="1">
            <a:off x="6675120" y="2020824"/>
            <a:ext cx="0" cy="749808"/>
          </a:xfrm>
          <a:prstGeom prst="line">
            <a:avLst/>
          </a:prstGeom>
          <a:ln w="3175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6443045" y="2501798"/>
            <a:ext cx="232075" cy="118872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6369893" y="2501798"/>
            <a:ext cx="73152" cy="27432"/>
          </a:xfrm>
          <a:prstGeom prst="line">
            <a:avLst/>
          </a:prstGeom>
          <a:ln w="1651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675120" y="2547518"/>
            <a:ext cx="232074" cy="114300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6443045" y="2379954"/>
            <a:ext cx="232075" cy="118872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6369893" y="2379954"/>
            <a:ext cx="73152" cy="27432"/>
          </a:xfrm>
          <a:prstGeom prst="line">
            <a:avLst/>
          </a:prstGeom>
          <a:ln w="1651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675120" y="2425674"/>
            <a:ext cx="232074" cy="114300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6443045" y="2258110"/>
            <a:ext cx="232075" cy="118872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6369893" y="2258110"/>
            <a:ext cx="73152" cy="27432"/>
          </a:xfrm>
          <a:prstGeom prst="line">
            <a:avLst/>
          </a:prstGeom>
          <a:ln w="1651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675120" y="2303830"/>
            <a:ext cx="232074" cy="114300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6443045" y="2136266"/>
            <a:ext cx="232075" cy="118872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6369893" y="2136266"/>
            <a:ext cx="73152" cy="27432"/>
          </a:xfrm>
          <a:prstGeom prst="line">
            <a:avLst/>
          </a:prstGeom>
          <a:ln w="1651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675120" y="2181986"/>
            <a:ext cx="232074" cy="114300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6443045" y="2014423"/>
            <a:ext cx="232075" cy="118872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6369893" y="2014423"/>
            <a:ext cx="73152" cy="27432"/>
          </a:xfrm>
          <a:prstGeom prst="line">
            <a:avLst/>
          </a:prstGeom>
          <a:ln w="1651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675120" y="2060143"/>
            <a:ext cx="232074" cy="114300"/>
          </a:xfrm>
          <a:prstGeom prst="line">
            <a:avLst/>
          </a:prstGeom>
          <a:ln w="254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6565392" y="1883664"/>
            <a:ext cx="109728" cy="137160"/>
          </a:xfrm>
          <a:prstGeom prst="line">
            <a:avLst/>
          </a:prstGeom>
          <a:ln w="16510">
            <a:solidFill>
              <a:srgbClr val="B984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75120" y="1883664"/>
            <a:ext cx="0" cy="137160"/>
          </a:xfrm>
          <a:prstGeom prst="line">
            <a:avLst/>
          </a:prstGeom>
          <a:ln w="16510">
            <a:solidFill>
              <a:srgbClr val="B984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75120" y="1883664"/>
            <a:ext cx="109728" cy="137160"/>
          </a:xfrm>
          <a:prstGeom prst="line">
            <a:avLst/>
          </a:prstGeom>
          <a:ln w="16510">
            <a:solidFill>
              <a:srgbClr val="B984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897880" y="286207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1">
                <a:solidFill>
                  <a:srgbClr val="173C36"/>
                </a:solidFill>
                <a:latin typeface="Noto Sans CJK SC"/>
              </a:rPr>
              <a:t>乳熟期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52159" y="3191256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60746D"/>
                </a:solidFill>
                <a:latin typeface="Noto Sans CJK SC"/>
              </a:rPr>
              <a:t>灌浆阶段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955279" y="1618488"/>
            <a:ext cx="41148" cy="182880"/>
          </a:xfrm>
          <a:prstGeom prst="roundRect">
            <a:avLst>
              <a:gd name="adj" fmla="val 12000"/>
            </a:avLst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74152" y="15819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173C36"/>
                </a:solidFill>
                <a:latin typeface="Noto Sans CJK SC"/>
              </a:rPr>
              <a:t>无人机与田间同步调查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83296" y="1993392"/>
            <a:ext cx="34290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73C36"/>
                </a:solidFill>
                <a:latin typeface="Noto Sans CJK SC"/>
              </a:rPr>
              <a:t>• 无人机多光谱影像：归一化植被指数、归一化差异红边指数等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73C36"/>
                </a:solidFill>
                <a:latin typeface="Noto Sans CJK SC"/>
              </a:rPr>
              <a:t>• 田间实测：叶面积指数为主，株高、叶绿素相对含量和冠层覆盖度为辅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73C36"/>
                </a:solidFill>
                <a:latin typeface="Noto Sans CJK SC"/>
              </a:rPr>
              <a:t>• 各期尽量保持航高、飞行时段和固定样点一致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94360" y="3849624"/>
            <a:ext cx="41148" cy="182880"/>
          </a:xfrm>
          <a:prstGeom prst="roundRect">
            <a:avLst>
              <a:gd name="adj" fmla="val 12000"/>
            </a:avLst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3232" y="38130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173C36"/>
                </a:solidFill>
                <a:latin typeface="Noto Sans CJK SC"/>
              </a:rPr>
              <a:t>空间表达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2376" y="4279392"/>
            <a:ext cx="6839712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73C36"/>
                </a:solidFill>
                <a:latin typeface="Noto Sans CJK SC"/>
              </a:rPr>
              <a:t>• 建立无人机遥感特征与实测叶面积指数之间的关系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73C36"/>
                </a:solidFill>
                <a:latin typeface="Noto Sans CJK SC"/>
              </a:rPr>
              <a:t>• 获得四个生育期玉米长势空间分布图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73C36"/>
                </a:solidFill>
                <a:latin typeface="Noto Sans CJK SC"/>
              </a:rPr>
              <a:t>• 比较各生育期长势的变异程度及空间分布变化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955279" y="3977639"/>
            <a:ext cx="3657600" cy="1792224"/>
          </a:xfrm>
          <a:prstGeom prst="roundRect">
            <a:avLst>
              <a:gd name="adj" fmla="val 12000"/>
            </a:avLst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119872" y="4251960"/>
            <a:ext cx="1024128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19872" y="4343400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173C36"/>
                </a:solidFill>
                <a:latin typeface="Noto Sans CJK SC"/>
              </a:rPr>
              <a:t>田间样点</a:t>
            </a:r>
          </a:p>
        </p:txBody>
      </p:sp>
      <p:sp>
        <p:nvSpPr>
          <p:cNvPr id="83" name="Chevron 82"/>
          <p:cNvSpPr/>
          <p:nvPr/>
        </p:nvSpPr>
        <p:spPr>
          <a:xfrm>
            <a:off x="9171432" y="4398264"/>
            <a:ext cx="91440" cy="164592"/>
          </a:xfrm>
          <a:prstGeom prst="chevron">
            <a:avLst/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9262872" y="4251960"/>
            <a:ext cx="1024128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262872" y="4343400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173C36"/>
                </a:solidFill>
                <a:latin typeface="Noto Sans CJK SC"/>
              </a:rPr>
              <a:t>反演关系</a:t>
            </a:r>
          </a:p>
        </p:txBody>
      </p:sp>
      <p:sp>
        <p:nvSpPr>
          <p:cNvPr id="86" name="Chevron 85"/>
          <p:cNvSpPr/>
          <p:nvPr/>
        </p:nvSpPr>
        <p:spPr>
          <a:xfrm>
            <a:off x="10314432" y="4398264"/>
            <a:ext cx="91440" cy="164592"/>
          </a:xfrm>
          <a:prstGeom prst="chevron">
            <a:avLst/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0405872" y="4251960"/>
            <a:ext cx="1024128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405872" y="4343400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173C36"/>
                </a:solidFill>
                <a:latin typeface="Noto Sans CJK SC"/>
              </a:rPr>
              <a:t>长势图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56448" y="5010912"/>
            <a:ext cx="32552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0">
                <a:solidFill>
                  <a:srgbClr val="23765E"/>
                </a:solidFill>
                <a:latin typeface="Noto Sans CJK SC"/>
              </a:rPr>
              <a:t>由点状实测扩展为地块连续空间分布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23765E"/>
                </a:solidFill>
                <a:latin typeface="Noto Sans CJK SC"/>
              </a:rPr>
              <a:t>4.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4688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0">
                <a:solidFill>
                  <a:srgbClr val="60746D"/>
                </a:solidFill>
                <a:latin typeface="Noto Sans CJK SC"/>
              </a:rP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73C36"/>
                </a:solidFill>
                <a:latin typeface="Noto Sans CJK SC"/>
              </a:rPr>
              <a:t>4.2 玉米长势空间差异性分区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2700">
            <a:solidFill>
              <a:srgbClr val="D5E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6272784"/>
            <a:ext cx="11183112" cy="365760"/>
          </a:xfrm>
          <a:prstGeom prst="roundRect">
            <a:avLst>
              <a:gd name="adj" fmla="val 12000"/>
            </a:avLst>
          </a:prstGeom>
          <a:solidFill>
            <a:srgbClr val="17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27648"/>
            <a:ext cx="10835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FFFFFF"/>
                </a:solidFill>
                <a:latin typeface="Noto Sans CJK SC"/>
              </a:rPr>
              <a:t>长势分区由单一时期的长势高低，转向整个生育期长势变化过程的综合判断。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18488"/>
            <a:ext cx="41148" cy="182880"/>
          </a:xfrm>
          <a:prstGeom prst="roundRect">
            <a:avLst>
              <a:gd name="adj" fmla="val 12000"/>
            </a:avLst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819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173C36"/>
                </a:solidFill>
                <a:latin typeface="Noto Sans CJK SC"/>
              </a:rPr>
              <a:t>分区思路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93392"/>
            <a:ext cx="2441448" cy="914400"/>
          </a:xfrm>
          <a:prstGeom prst="roundRect">
            <a:avLst>
              <a:gd name="adj" fmla="val 12000"/>
            </a:avLst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148840"/>
            <a:ext cx="329184" cy="329184"/>
          </a:xfrm>
          <a:prstGeom prst="ellipse">
            <a:avLst/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76272"/>
            <a:ext cx="3291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576" y="2148840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173C36"/>
                </a:solidFill>
                <a:latin typeface="Noto Sans CJK SC"/>
              </a:rPr>
              <a:t>多期长势数据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" y="2523744"/>
            <a:ext cx="17282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60746D"/>
                </a:solidFill>
                <a:latin typeface="Noto Sans CJK SC"/>
              </a:rPr>
              <a:t>四个生育期</a:t>
            </a:r>
          </a:p>
        </p:txBody>
      </p:sp>
      <p:sp>
        <p:nvSpPr>
          <p:cNvPr id="15" name="Chevron 14"/>
          <p:cNvSpPr/>
          <p:nvPr/>
        </p:nvSpPr>
        <p:spPr>
          <a:xfrm>
            <a:off x="3154679" y="2368296"/>
            <a:ext cx="192024" cy="164592"/>
          </a:xfrm>
          <a:prstGeom prst="chevron">
            <a:avLst/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47288" y="1993392"/>
            <a:ext cx="2441448" cy="914400"/>
          </a:xfrm>
          <a:prstGeom prst="roundRect">
            <a:avLst>
              <a:gd name="adj" fmla="val 12000"/>
            </a:avLst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84448" y="2148840"/>
            <a:ext cx="329184" cy="329184"/>
          </a:xfrm>
          <a:prstGeom prst="ellipse">
            <a:avLst/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4448" y="2176272"/>
            <a:ext cx="3291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32504" y="2148840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173C36"/>
                </a:solidFill>
                <a:latin typeface="Noto Sans CJK SC"/>
              </a:rPr>
              <a:t>统一处理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32504" y="2523744"/>
            <a:ext cx="17282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60746D"/>
                </a:solidFill>
                <a:latin typeface="Noto Sans CJK SC"/>
              </a:rPr>
              <a:t>消除时期差异</a:t>
            </a:r>
          </a:p>
        </p:txBody>
      </p:sp>
      <p:sp>
        <p:nvSpPr>
          <p:cNvPr id="21" name="Chevron 20"/>
          <p:cNvSpPr/>
          <p:nvPr/>
        </p:nvSpPr>
        <p:spPr>
          <a:xfrm>
            <a:off x="6007608" y="2368296"/>
            <a:ext cx="192024" cy="164592"/>
          </a:xfrm>
          <a:prstGeom prst="chevron">
            <a:avLst/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0216" y="1993392"/>
            <a:ext cx="2441448" cy="914400"/>
          </a:xfrm>
          <a:prstGeom prst="roundRect">
            <a:avLst>
              <a:gd name="adj" fmla="val 12000"/>
            </a:avLst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2148840"/>
            <a:ext cx="329184" cy="329184"/>
          </a:xfrm>
          <a:prstGeom prst="ellipse">
            <a:avLst/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2176272"/>
            <a:ext cx="3291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2" y="2148840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173C36"/>
                </a:solidFill>
                <a:latin typeface="Noto Sans CJK SC"/>
              </a:rPr>
              <a:t>变化轨迹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5432" y="2523744"/>
            <a:ext cx="17282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60746D"/>
                </a:solidFill>
                <a:latin typeface="Noto Sans CJK SC"/>
              </a:rPr>
              <a:t>比较同一位置</a:t>
            </a:r>
          </a:p>
        </p:txBody>
      </p:sp>
      <p:sp>
        <p:nvSpPr>
          <p:cNvPr id="27" name="Chevron 26"/>
          <p:cNvSpPr/>
          <p:nvPr/>
        </p:nvSpPr>
        <p:spPr>
          <a:xfrm>
            <a:off x="8860536" y="2368296"/>
            <a:ext cx="192024" cy="164592"/>
          </a:xfrm>
          <a:prstGeom prst="chevron">
            <a:avLst/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53144" y="1993392"/>
            <a:ext cx="2441448" cy="914400"/>
          </a:xfrm>
          <a:prstGeom prst="roundRect">
            <a:avLst>
              <a:gd name="adj" fmla="val 12000"/>
            </a:avLst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90304" y="2148840"/>
            <a:ext cx="329184" cy="329184"/>
          </a:xfrm>
          <a:prstGeom prst="ellipse">
            <a:avLst/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0304" y="2176272"/>
            <a:ext cx="3291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148840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173C36"/>
                </a:solidFill>
                <a:latin typeface="Noto Sans CJK SC"/>
              </a:rPr>
              <a:t>长势分区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2523744"/>
            <a:ext cx="17282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60746D"/>
                </a:solidFill>
                <a:latin typeface="Noto Sans CJK SC"/>
              </a:rPr>
              <a:t>结合产量验证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3246120"/>
            <a:ext cx="41148" cy="182880"/>
          </a:xfrm>
          <a:prstGeom prst="roundRect">
            <a:avLst>
              <a:gd name="adj" fmla="val 12000"/>
            </a:avLst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32095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173C36"/>
                </a:solidFill>
                <a:latin typeface="Noto Sans CJK SC"/>
              </a:rPr>
              <a:t>初步长势类型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3639312"/>
            <a:ext cx="5468112" cy="859536"/>
          </a:xfrm>
          <a:prstGeom prst="roundRect">
            <a:avLst>
              <a:gd name="adj" fmla="val 12000"/>
            </a:avLst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3639312"/>
            <a:ext cx="54864" cy="859536"/>
          </a:xfrm>
          <a:prstGeom prst="roundRect">
            <a:avLst>
              <a:gd name="adj" fmla="val 12000"/>
            </a:avLst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3767328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73C36"/>
                </a:solidFill>
                <a:latin typeface="Noto Sans CJK SC"/>
              </a:rPr>
              <a:t>持续优势区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142232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60746D"/>
                </a:solidFill>
                <a:latin typeface="Noto Sans CJK SC"/>
              </a:rPr>
              <a:t>各期长势总体较好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4663440" y="3903207"/>
            <a:ext cx="338328" cy="15911"/>
          </a:xfrm>
          <a:prstGeom prst="line">
            <a:avLst/>
          </a:prstGeom>
          <a:ln w="3175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001768" y="3903207"/>
            <a:ext cx="338328" cy="21214"/>
          </a:xfrm>
          <a:prstGeom prst="line">
            <a:avLst/>
          </a:prstGeom>
          <a:ln w="3175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340096" y="3908511"/>
            <a:ext cx="338328" cy="15910"/>
          </a:xfrm>
          <a:prstGeom prst="line">
            <a:avLst/>
          </a:prstGeom>
          <a:ln w="3175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300216" y="3639312"/>
            <a:ext cx="5468112" cy="859536"/>
          </a:xfrm>
          <a:prstGeom prst="roundRect">
            <a:avLst>
              <a:gd name="adj" fmla="val 12000"/>
            </a:avLst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00216" y="3639312"/>
            <a:ext cx="54864" cy="859536"/>
          </a:xfrm>
          <a:prstGeom prst="roundRect">
            <a:avLst>
              <a:gd name="adj" fmla="val 12000"/>
            </a:avLst>
          </a:prstGeom>
          <a:solidFill>
            <a:srgbClr val="B9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83096" y="3767328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73C36"/>
                </a:solidFill>
                <a:latin typeface="Noto Sans CJK SC"/>
              </a:rPr>
              <a:t>持续限制区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83096" y="4142232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60746D"/>
                </a:solidFill>
                <a:latin typeface="Noto Sans CJK SC"/>
              </a:rPr>
              <a:t>各期长势持续偏低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369296" y="4237329"/>
            <a:ext cx="338328" cy="10607"/>
          </a:xfrm>
          <a:prstGeom prst="line">
            <a:avLst/>
          </a:prstGeom>
          <a:ln w="31750">
            <a:solidFill>
              <a:srgbClr val="B984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0707624" y="4226722"/>
            <a:ext cx="338328" cy="21214"/>
          </a:xfrm>
          <a:prstGeom prst="line">
            <a:avLst/>
          </a:prstGeom>
          <a:ln w="31750">
            <a:solidFill>
              <a:srgbClr val="B984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045952" y="4226722"/>
            <a:ext cx="338328" cy="10607"/>
          </a:xfrm>
          <a:prstGeom prst="line">
            <a:avLst/>
          </a:prstGeom>
          <a:ln w="31750">
            <a:solidFill>
              <a:srgbClr val="B984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94360" y="4663440"/>
            <a:ext cx="5468112" cy="859536"/>
          </a:xfrm>
          <a:prstGeom prst="roundRect">
            <a:avLst>
              <a:gd name="adj" fmla="val 12000"/>
            </a:avLst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94360" y="4663440"/>
            <a:ext cx="54864" cy="859536"/>
          </a:xfrm>
          <a:prstGeom prst="roundRect">
            <a:avLst>
              <a:gd name="adj" fmla="val 12000"/>
            </a:avLst>
          </a:prstGeom>
          <a:solidFill>
            <a:srgbClr val="48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4791455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73C36"/>
                </a:solidFill>
                <a:latin typeface="Noto Sans CJK SC"/>
              </a:rPr>
              <a:t>前期优势—后期下降区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5166359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60746D"/>
                </a:solidFill>
                <a:latin typeface="Noto Sans CJK SC"/>
              </a:rPr>
              <a:t>前期较好，后期下降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663440" y="4943246"/>
            <a:ext cx="338328" cy="68946"/>
          </a:xfrm>
          <a:prstGeom prst="line">
            <a:avLst/>
          </a:prstGeom>
          <a:ln w="31750">
            <a:solidFill>
              <a:srgbClr val="487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01768" y="5012192"/>
            <a:ext cx="338328" cy="153802"/>
          </a:xfrm>
          <a:prstGeom prst="line">
            <a:avLst/>
          </a:prstGeom>
          <a:ln w="31750">
            <a:solidFill>
              <a:srgbClr val="487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40096" y="5165994"/>
            <a:ext cx="338328" cy="95463"/>
          </a:xfrm>
          <a:prstGeom prst="line">
            <a:avLst/>
          </a:prstGeom>
          <a:ln w="31750">
            <a:solidFill>
              <a:srgbClr val="487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6300216" y="4663440"/>
            <a:ext cx="5468112" cy="859536"/>
          </a:xfrm>
          <a:prstGeom prst="roundRect">
            <a:avLst>
              <a:gd name="adj" fmla="val 12000"/>
            </a:avLst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300216" y="4663440"/>
            <a:ext cx="54864" cy="859536"/>
          </a:xfrm>
          <a:prstGeom prst="roundRect">
            <a:avLst>
              <a:gd name="adj" fmla="val 12000"/>
            </a:avLst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83096" y="4791455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73C36"/>
                </a:solidFill>
                <a:latin typeface="Noto Sans CJK SC"/>
              </a:rPr>
              <a:t>前期受限—后期恢复区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83096" y="5166359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60746D"/>
                </a:solidFill>
                <a:latin typeface="Noto Sans CJK SC"/>
              </a:rPr>
              <a:t>前期较弱，后期恢复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10369296" y="5181904"/>
            <a:ext cx="338328" cy="90160"/>
          </a:xfrm>
          <a:prstGeom prst="line">
            <a:avLst/>
          </a:prstGeom>
          <a:ln w="3175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707624" y="5049316"/>
            <a:ext cx="338328" cy="132588"/>
          </a:xfrm>
          <a:prstGeom prst="line">
            <a:avLst/>
          </a:prstGeom>
          <a:ln w="3175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1045952" y="4943246"/>
            <a:ext cx="338328" cy="106070"/>
          </a:xfrm>
          <a:prstGeom prst="line">
            <a:avLst/>
          </a:prstGeom>
          <a:ln w="3175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601200" y="325526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0746D"/>
                </a:solidFill>
                <a:latin typeface="Noto Sans CJK SC"/>
              </a:rPr>
              <a:t>轨迹示意 · 非实测数据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4360" y="5779008"/>
            <a:ext cx="41148" cy="182880"/>
          </a:xfrm>
          <a:prstGeom prst="roundRect">
            <a:avLst>
              <a:gd name="adj" fmla="val 12000"/>
            </a:avLst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3232" y="57424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173C36"/>
                </a:solidFill>
                <a:latin typeface="Noto Sans CJK SC"/>
              </a:rPr>
              <a:t>产量验证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01952" y="5705856"/>
            <a:ext cx="9637776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173C36"/>
                </a:solidFill>
                <a:latin typeface="Noto Sans CJK SC"/>
              </a:rPr>
              <a:t>收获期在相同样点定位测产，比较不同长势类型区的最终生产表现，判断长势空间差异是否转化为产量差异。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23765E"/>
                </a:solidFill>
                <a:latin typeface="Noto Sans CJK SC"/>
              </a:rPr>
              <a:t>4.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4688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0">
                <a:solidFill>
                  <a:srgbClr val="60746D"/>
                </a:solidFill>
                <a:latin typeface="Noto Sans CJK SC"/>
              </a:rP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73C36"/>
                </a:solidFill>
                <a:latin typeface="Noto Sans CJK SC"/>
              </a:rPr>
              <a:t>4.3 影响因素数据获取与分析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2700">
            <a:solidFill>
              <a:srgbClr val="D5E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6272784"/>
            <a:ext cx="11183112" cy="365760"/>
          </a:xfrm>
          <a:prstGeom prst="roundRect">
            <a:avLst>
              <a:gd name="adj" fmla="val 12000"/>
            </a:avLst>
          </a:prstGeom>
          <a:solidFill>
            <a:srgbClr val="17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27648"/>
            <a:ext cx="10835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FFFFFF"/>
                </a:solidFill>
                <a:latin typeface="Noto Sans CJK SC"/>
              </a:rPr>
              <a:t>重点从防护林、微地形和土壤条件三个方面解释地块内部玉米长势空间差异。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41148" cy="182880"/>
          </a:xfrm>
          <a:prstGeom prst="roundRect">
            <a:avLst>
              <a:gd name="adj" fmla="val 12000"/>
            </a:avLst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093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173C36"/>
                </a:solidFill>
                <a:latin typeface="Noto Sans CJK SC"/>
              </a:rPr>
              <a:t>固定样点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563624"/>
            <a:ext cx="967435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73C36"/>
                </a:solidFill>
                <a:latin typeface="Noto Sans CJK SC"/>
              </a:rPr>
              <a:t>在不同长势类型区布设固定样点，同一位置跨生育期重复调查，实现长势、环境和产量数据对应。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249424"/>
            <a:ext cx="3547872" cy="2578608"/>
          </a:xfrm>
          <a:prstGeom prst="roundRect">
            <a:avLst>
              <a:gd name="adj" fmla="val 12000"/>
            </a:avLst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496312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73C36"/>
                </a:solidFill>
                <a:latin typeface="Noto Sans CJK SC"/>
              </a:rPr>
              <a:t>防护林因素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127248"/>
            <a:ext cx="3108960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73C36"/>
                </a:solidFill>
                <a:latin typeface="Noto Sans CJK SC"/>
              </a:rPr>
              <a:t>• 测定林带高度、宽度、走向和连续程度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73C36"/>
                </a:solidFill>
                <a:latin typeface="Noto Sans CJK SC"/>
              </a:rPr>
              <a:t>• 计算样点距林带距离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73C36"/>
                </a:solidFill>
                <a:latin typeface="Noto Sans CJK SC"/>
              </a:rPr>
              <a:t>• 相对距林距离＝距林距离÷林带高度</a:t>
            </a:r>
          </a:p>
        </p:txBody>
      </p:sp>
      <p:sp>
        <p:nvSpPr>
          <p:cNvPr id="14" name="Isosceles Triangle 13"/>
          <p:cNvSpPr/>
          <p:nvPr/>
        </p:nvSpPr>
        <p:spPr>
          <a:xfrm>
            <a:off x="3337560" y="2532888"/>
            <a:ext cx="164592" cy="283464"/>
          </a:xfrm>
          <a:prstGeom prst="triangle">
            <a:avLst/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419856" y="2779776"/>
            <a:ext cx="0" cy="100584"/>
          </a:xfrm>
          <a:prstGeom prst="line">
            <a:avLst/>
          </a:prstGeom>
          <a:ln w="127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>
            <a:off x="3538728" y="2532888"/>
            <a:ext cx="164592" cy="283464"/>
          </a:xfrm>
          <a:prstGeom prst="triangle">
            <a:avLst/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3621024" y="2779776"/>
            <a:ext cx="0" cy="100584"/>
          </a:xfrm>
          <a:prstGeom prst="line">
            <a:avLst/>
          </a:prstGeom>
          <a:ln w="127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>
            <a:off x="3739896" y="2532888"/>
            <a:ext cx="164592" cy="283464"/>
          </a:xfrm>
          <a:prstGeom prst="triangle">
            <a:avLst/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3822191" y="2779776"/>
            <a:ext cx="0" cy="100584"/>
          </a:xfrm>
          <a:prstGeom prst="line">
            <a:avLst/>
          </a:prstGeom>
          <a:ln w="12700">
            <a:solidFill>
              <a:srgbClr val="237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98264" y="2249424"/>
            <a:ext cx="3547872" cy="2578608"/>
          </a:xfrm>
          <a:prstGeom prst="roundRect">
            <a:avLst>
              <a:gd name="adj" fmla="val 12000"/>
            </a:avLst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8576" y="2496312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73C36"/>
                </a:solidFill>
                <a:latin typeface="Noto Sans CJK SC"/>
              </a:rPr>
              <a:t>微地形因素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3127248"/>
            <a:ext cx="3108960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73C36"/>
                </a:solidFill>
                <a:latin typeface="Noto Sans CJK SC"/>
              </a:rPr>
              <a:t>• 无人机摄影测量或实时动态差分定位获取高程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73C36"/>
                </a:solidFill>
                <a:latin typeface="Noto Sans CJK SC"/>
              </a:rPr>
              <a:t>• 建立地块数字高程模型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73C36"/>
                </a:solidFill>
                <a:latin typeface="Noto Sans CJK SC"/>
              </a:rPr>
              <a:t>• 提取相对高程、坡度、坡位和地形湿度指数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104888" y="2651760"/>
            <a:ext cx="210312" cy="201168"/>
          </a:xfrm>
          <a:prstGeom prst="line">
            <a:avLst/>
          </a:prstGeom>
          <a:ln w="17780">
            <a:solidFill>
              <a:srgbClr val="487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15200" y="2651760"/>
            <a:ext cx="329183" cy="201168"/>
          </a:xfrm>
          <a:prstGeom prst="line">
            <a:avLst/>
          </a:prstGeom>
          <a:ln w="17780">
            <a:solidFill>
              <a:srgbClr val="487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104888" y="2578608"/>
            <a:ext cx="210312" cy="201168"/>
          </a:xfrm>
          <a:prstGeom prst="line">
            <a:avLst/>
          </a:prstGeom>
          <a:ln w="17780">
            <a:solidFill>
              <a:srgbClr val="487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315200" y="2578608"/>
            <a:ext cx="329183" cy="201168"/>
          </a:xfrm>
          <a:prstGeom prst="line">
            <a:avLst/>
          </a:prstGeom>
          <a:ln w="17780">
            <a:solidFill>
              <a:srgbClr val="487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104888" y="2505456"/>
            <a:ext cx="210312" cy="201168"/>
          </a:xfrm>
          <a:prstGeom prst="line">
            <a:avLst/>
          </a:prstGeom>
          <a:ln w="17780">
            <a:solidFill>
              <a:srgbClr val="487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315200" y="2505456"/>
            <a:ext cx="329183" cy="201168"/>
          </a:xfrm>
          <a:prstGeom prst="line">
            <a:avLst/>
          </a:prstGeom>
          <a:ln w="17780">
            <a:solidFill>
              <a:srgbClr val="487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02168" y="2249424"/>
            <a:ext cx="3547872" cy="2578608"/>
          </a:xfrm>
          <a:prstGeom prst="roundRect">
            <a:avLst>
              <a:gd name="adj" fmla="val 12000"/>
            </a:avLst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2496312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73C36"/>
                </a:solidFill>
                <a:latin typeface="Noto Sans CJK SC"/>
              </a:rPr>
              <a:t>土壤因素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127248"/>
            <a:ext cx="3108960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73C36"/>
                </a:solidFill>
                <a:latin typeface="Noto Sans CJK SC"/>
              </a:rPr>
              <a:t>• 土壤水分随各生育期同步监测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73C36"/>
                </a:solidFill>
                <a:latin typeface="Noto Sans CJK SC"/>
              </a:rPr>
              <a:t>• 测定有机质、酸碱度及主要有效养分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73C36"/>
                </a:solidFill>
                <a:latin typeface="Noto Sans CJK SC"/>
              </a:rPr>
              <a:t>• 基础土壤属性集中采集测定一次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963656" y="2615184"/>
            <a:ext cx="484632" cy="0"/>
          </a:xfrm>
          <a:prstGeom prst="line">
            <a:avLst/>
          </a:prstGeom>
          <a:ln w="25400">
            <a:solidFill>
              <a:srgbClr val="B984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963656" y="2724912"/>
            <a:ext cx="484632" cy="0"/>
          </a:xfrm>
          <a:prstGeom prst="line">
            <a:avLst/>
          </a:prstGeom>
          <a:ln w="25400">
            <a:solidFill>
              <a:srgbClr val="B984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963656" y="2834639"/>
            <a:ext cx="484632" cy="0"/>
          </a:xfrm>
          <a:prstGeom prst="line">
            <a:avLst/>
          </a:prstGeom>
          <a:ln w="25400">
            <a:solidFill>
              <a:srgbClr val="B984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4360" y="5157216"/>
            <a:ext cx="41148" cy="182880"/>
          </a:xfrm>
          <a:prstGeom prst="roundRect">
            <a:avLst>
              <a:gd name="adj" fmla="val 12000"/>
            </a:avLst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5120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173C36"/>
                </a:solidFill>
                <a:latin typeface="Noto Sans CJK SC"/>
              </a:rPr>
              <a:t>综合分析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92807" y="5084064"/>
            <a:ext cx="96560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73C36"/>
                </a:solidFill>
                <a:latin typeface="Noto Sans CJK SC"/>
              </a:rPr>
              <a:t>• 将玉米长势、防护林、微地形和土壤数据按统一坐标进行空间匹配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73C36"/>
                </a:solidFill>
                <a:latin typeface="Noto Sans CJK SC"/>
              </a:rPr>
              <a:t>• 先分析单一因素与长势的关系，再比较不同因素对长势差异的解释程度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73C36"/>
                </a:solidFill>
                <a:latin typeface="Noto Sans CJK SC"/>
              </a:rPr>
              <a:t>• 识别与玉米长势空间差异关系较密切的主要限制因素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23765E"/>
                </a:solidFill>
                <a:latin typeface="Noto Sans CJK SC"/>
              </a:rPr>
              <a:t>4.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4688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0">
                <a:solidFill>
                  <a:srgbClr val="60746D"/>
                </a:solidFill>
                <a:latin typeface="Noto Sans CJK SC"/>
              </a:rP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73C36"/>
                </a:solidFill>
                <a:latin typeface="Noto Sans CJK SC"/>
              </a:rPr>
              <a:t>4.4 基于主要限制因素的差异化管理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2700">
            <a:solidFill>
              <a:srgbClr val="D5E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6272784"/>
            <a:ext cx="11183112" cy="365760"/>
          </a:xfrm>
          <a:prstGeom prst="roundRect">
            <a:avLst>
              <a:gd name="adj" fmla="val 12000"/>
            </a:avLst>
          </a:prstGeom>
          <a:solidFill>
            <a:srgbClr val="17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27648"/>
            <a:ext cx="10835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FFFFFF"/>
                </a:solidFill>
                <a:latin typeface="Noto Sans CJK SC"/>
              </a:rPr>
              <a:t>根据长势表现、最终产量和主要限制因素进行管理分区，实现由统一管理向针对性差异化管理转变。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27632"/>
            <a:ext cx="41148" cy="182880"/>
          </a:xfrm>
          <a:prstGeom prst="roundRect">
            <a:avLst>
              <a:gd name="adj" fmla="val 12000"/>
            </a:avLst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9105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173C36"/>
                </a:solidFill>
                <a:latin typeface="Noto Sans CJK SC"/>
              </a:rPr>
              <a:t>管理思路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75104"/>
            <a:ext cx="3401568" cy="914400"/>
          </a:xfrm>
          <a:prstGeom prst="roundRect">
            <a:avLst>
              <a:gd name="adj" fmla="val 12000"/>
            </a:avLst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130552"/>
            <a:ext cx="329184" cy="329184"/>
          </a:xfrm>
          <a:prstGeom prst="ellipse">
            <a:avLst/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5798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576" y="2130552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173C36"/>
                </a:solidFill>
                <a:latin typeface="Noto Sans CJK SC"/>
              </a:rPr>
              <a:t>长势分区验证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" y="2505456"/>
            <a:ext cx="268833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60746D"/>
                </a:solidFill>
                <a:latin typeface="Noto Sans CJK SC"/>
              </a:rPr>
              <a:t>结合收获期产量</a:t>
            </a:r>
          </a:p>
        </p:txBody>
      </p:sp>
      <p:sp>
        <p:nvSpPr>
          <p:cNvPr id="15" name="Chevron 14"/>
          <p:cNvSpPr/>
          <p:nvPr/>
        </p:nvSpPr>
        <p:spPr>
          <a:xfrm>
            <a:off x="4105656" y="2350008"/>
            <a:ext cx="210312" cy="164592"/>
          </a:xfrm>
          <a:prstGeom prst="chevron">
            <a:avLst/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98264" y="1975104"/>
            <a:ext cx="3401568" cy="914400"/>
          </a:xfrm>
          <a:prstGeom prst="roundRect">
            <a:avLst>
              <a:gd name="adj" fmla="val 12000"/>
            </a:avLst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35424" y="2130552"/>
            <a:ext cx="329184" cy="329184"/>
          </a:xfrm>
          <a:prstGeom prst="ellipse">
            <a:avLst/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215798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130552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173C36"/>
                </a:solidFill>
                <a:latin typeface="Noto Sans CJK SC"/>
              </a:rPr>
              <a:t>主要限制因素识别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505456"/>
            <a:ext cx="268833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60746D"/>
                </a:solidFill>
                <a:latin typeface="Noto Sans CJK SC"/>
              </a:rPr>
              <a:t>综合防护林、微地形和土壤</a:t>
            </a:r>
          </a:p>
        </p:txBody>
      </p:sp>
      <p:sp>
        <p:nvSpPr>
          <p:cNvPr id="21" name="Chevron 20"/>
          <p:cNvSpPr/>
          <p:nvPr/>
        </p:nvSpPr>
        <p:spPr>
          <a:xfrm>
            <a:off x="7909560" y="2350008"/>
            <a:ext cx="210312" cy="164592"/>
          </a:xfrm>
          <a:prstGeom prst="chevron">
            <a:avLst/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02168" y="1975104"/>
            <a:ext cx="3401568" cy="914400"/>
          </a:xfrm>
          <a:prstGeom prst="roundRect">
            <a:avLst>
              <a:gd name="adj" fmla="val 12000"/>
            </a:avLst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39328" y="2130552"/>
            <a:ext cx="329184" cy="329184"/>
          </a:xfrm>
          <a:prstGeom prst="ellipse">
            <a:avLst/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15798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7384" y="2130552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173C36"/>
                </a:solidFill>
                <a:latin typeface="Noto Sans CJK SC"/>
              </a:rPr>
              <a:t>形成管理分区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7384" y="2505456"/>
            <a:ext cx="268833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60746D"/>
                </a:solidFill>
                <a:latin typeface="Noto Sans CJK SC"/>
              </a:rPr>
              <a:t>按限制因素提出建议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209544"/>
            <a:ext cx="41148" cy="182880"/>
          </a:xfrm>
          <a:prstGeom prst="roundRect">
            <a:avLst>
              <a:gd name="adj" fmla="val 12000"/>
            </a:avLst>
          </a:prstGeom>
          <a:solidFill>
            <a:srgbClr val="23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1729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173C36"/>
                </a:solidFill>
                <a:latin typeface="Noto Sans CJK SC"/>
              </a:rPr>
              <a:t>管理分区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575304"/>
            <a:ext cx="2249424" cy="438912"/>
          </a:xfrm>
          <a:prstGeom prst="rect">
            <a:avLst/>
          </a:prstGeom>
          <a:solidFill>
            <a:srgbClr val="17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3675887"/>
            <a:ext cx="19568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管理区域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43784" y="3575304"/>
            <a:ext cx="3858768" cy="438912"/>
          </a:xfrm>
          <a:prstGeom prst="rect">
            <a:avLst/>
          </a:prstGeom>
          <a:solidFill>
            <a:srgbClr val="17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0088" y="3675887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主要表现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02552" y="3575304"/>
            <a:ext cx="4892040" cy="438912"/>
          </a:xfrm>
          <a:prstGeom prst="rect">
            <a:avLst/>
          </a:prstGeom>
          <a:solidFill>
            <a:srgbClr val="17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3675887"/>
            <a:ext cx="459943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管理方向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4014215"/>
            <a:ext cx="2249424" cy="438912"/>
          </a:xfrm>
          <a:prstGeom prst="rect">
            <a:avLst/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" y="4123944"/>
            <a:ext cx="19751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23765E"/>
                </a:solidFill>
                <a:latin typeface="Noto Sans CJK SC"/>
              </a:rPr>
              <a:t>稳定优势区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43784" y="4014215"/>
            <a:ext cx="3858768" cy="438912"/>
          </a:xfrm>
          <a:prstGeom prst="rect">
            <a:avLst/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90088" y="4123944"/>
            <a:ext cx="35844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173C36"/>
                </a:solidFill>
                <a:latin typeface="Noto Sans CJK SC"/>
              </a:rPr>
              <a:t>多期长势和产量均较好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02552" y="4014215"/>
            <a:ext cx="4892040" cy="438912"/>
          </a:xfrm>
          <a:prstGeom prst="rect">
            <a:avLst/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48856" y="4123944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173C36"/>
                </a:solidFill>
                <a:latin typeface="Noto Sans CJK SC"/>
              </a:rPr>
              <a:t>保持现有管理，避免过量投入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4453127"/>
            <a:ext cx="2249424" cy="438912"/>
          </a:xfrm>
          <a:prstGeom prst="rect">
            <a:avLst/>
          </a:prstGeom>
          <a:solidFill>
            <a:srgbClr val="F5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" y="4562855"/>
            <a:ext cx="19751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23765E"/>
                </a:solidFill>
                <a:latin typeface="Noto Sans CJK SC"/>
              </a:rPr>
              <a:t>林缘限制区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43784" y="4453127"/>
            <a:ext cx="3858768" cy="438912"/>
          </a:xfrm>
          <a:prstGeom prst="rect">
            <a:avLst/>
          </a:prstGeom>
          <a:solidFill>
            <a:srgbClr val="F5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90088" y="4562855"/>
            <a:ext cx="35844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173C36"/>
                </a:solidFill>
                <a:latin typeface="Noto Sans CJK SC"/>
              </a:rPr>
              <a:t>靠近林带区域长势受限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02552" y="4453127"/>
            <a:ext cx="4892040" cy="438912"/>
          </a:xfrm>
          <a:prstGeom prst="rect">
            <a:avLst/>
          </a:prstGeom>
          <a:solidFill>
            <a:srgbClr val="F5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48856" y="4562855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173C36"/>
                </a:solidFill>
                <a:latin typeface="Noto Sans CJK SC"/>
              </a:rPr>
              <a:t>加强林缘环境和防护林管理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4892040"/>
            <a:ext cx="2249424" cy="438912"/>
          </a:xfrm>
          <a:prstGeom prst="rect">
            <a:avLst/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" y="5001768"/>
            <a:ext cx="19751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23765E"/>
                </a:solidFill>
                <a:latin typeface="Noto Sans CJK SC"/>
              </a:rPr>
              <a:t>水分与地形限制区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43784" y="4892040"/>
            <a:ext cx="3858768" cy="438912"/>
          </a:xfrm>
          <a:prstGeom prst="rect">
            <a:avLst/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90088" y="5001768"/>
            <a:ext cx="35844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173C36"/>
                </a:solidFill>
                <a:latin typeface="Noto Sans CJK SC"/>
              </a:rPr>
              <a:t>特定坡位长势较弱或波动明显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02552" y="4892040"/>
            <a:ext cx="4892040" cy="438912"/>
          </a:xfrm>
          <a:prstGeom prst="rect">
            <a:avLst/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8856" y="5001768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173C36"/>
                </a:solidFill>
                <a:latin typeface="Noto Sans CJK SC"/>
              </a:rPr>
              <a:t>加强保水、排水及垄向调节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5330952"/>
            <a:ext cx="2249424" cy="438912"/>
          </a:xfrm>
          <a:prstGeom prst="rect">
            <a:avLst/>
          </a:prstGeom>
          <a:solidFill>
            <a:srgbClr val="F5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0664" y="5440680"/>
            <a:ext cx="19751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23765E"/>
                </a:solidFill>
                <a:latin typeface="Noto Sans CJK SC"/>
              </a:rPr>
              <a:t>土壤肥力限制区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43784" y="5330952"/>
            <a:ext cx="3858768" cy="438912"/>
          </a:xfrm>
          <a:prstGeom prst="rect">
            <a:avLst/>
          </a:prstGeom>
          <a:solidFill>
            <a:srgbClr val="F5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90088" y="5440680"/>
            <a:ext cx="35844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173C36"/>
                </a:solidFill>
                <a:latin typeface="Noto Sans CJK SC"/>
              </a:rPr>
              <a:t>长势较弱且养分水平较低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02552" y="5330952"/>
            <a:ext cx="4892040" cy="438912"/>
          </a:xfrm>
          <a:prstGeom prst="rect">
            <a:avLst/>
          </a:prstGeom>
          <a:solidFill>
            <a:srgbClr val="F5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6" y="5440680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173C36"/>
                </a:solidFill>
                <a:latin typeface="Noto Sans CJK SC"/>
              </a:rPr>
              <a:t>开展针对性培肥和水肥调控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" y="5916168"/>
            <a:ext cx="106344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1">
                <a:solidFill>
                  <a:srgbClr val="23765E"/>
                </a:solidFill>
                <a:latin typeface="Noto Sans CJK SC"/>
              </a:rPr>
              <a:t>最终形成：玉米长势分区图 → 主要限制因素识别 → 管理分区图 → 差异化管理建议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