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题目按讨论文档统一。原PPT中的汇报日期保留为2026年10月10日；实际汇报日期如有变动，请据实修改。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地块定义为本研究的操作性定义，不等同于行政图斑。粮食安全落到玉米单产与管理；不将本研究包装为黑土地保护措施研究。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不能宣称其他因素已完全控制；土壤水分在主线中作为过程观测指标，不与防护林距离、微地形并列为第三个独立主因。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讨论文档称前期无人机观察发现不同距林位置NDVI存在差异；上传PPT未提供对应图表、样本量或统计检验。因此仅保留定性描述，不写显著性、不画模拟结果。正式汇报前补入可追溯的原始结果图。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原PPT采用LAI主线，按讨论文档调整为NDVI多期监测，LAI辅助核查。NDVI饱和、土壤背景、阴影和生育期差异均需注意。Tucker文献支持红光与近红外植被监测，不独立支持所有现代无人机处理细节。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按主题梳理研究，不采用阶段式时间轴，不声称已有研究都忽略了水分、地形或多期观测。列出的经典文献题录未在本次联网核验成功，交付说明中提示正式提交前核对原文。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替换原PPT“四方面均优于已有研究”的对比表。研究空缺限于当前研究区和拟研究关系，不提出未经系统文献检索支持的首创性结论。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保留原研究区地图原样，不把旧采样点地图当成拟定样点。候选为赵光农场或北安市其他统一管理农场，具体范围、图源和地图使用规范应在定稿时核对。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本页为可编辑研究设计示意图，不是观测结果。水分作为可能的过程指标；图中的关系为研究假设。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生育阶段按实际物候安排，不能直接用固定日期替代；原PPT四期方案保留。NDRE仅在设备具备红边波段时使用。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用可编辑线条、符号替换装饰图。距林分级0.5H、1H、2H、3H、5H、8H沿用原PPT，为候选而非实测。相对低、中、高位置并不必然构成横向条带，现场应按真实地形布点。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简化模型复杂度；随机效应按实际重复观测设计选择。只有一季时不能认定多年稳定性；观测研究报告关联，不直接报告因果机制。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“持续”限定本季观测期间。以下措施为调查后可选择的建议，不是已验证增产处方；不能仅凭低NDVI建议加肥。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原PPT在2027年1—6月即安排数据分析，未体现2027年完整田间季。这里按尚未开展完整采样的情形修正；如已有完整2026年数据，应据实调整。2025年9月至2026年9月的历史工作不能仅凭时间表认定已完成。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中文背景文献取自原PPT。补充经典方法和主题文献以支持正文引用。本次Crossref访问受限，未完成在线题录与全文核验，正式提交前请核对原文和格式。新增文献不代表已经进行系统文献综述。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沈阳农业大学｜资源利用与植物保护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地块尺度玉米长势空间差异、影响因素及差异化管理研究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8992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385847"/>
                </a:solidFill>
                <a:latin typeface="Noto Sans CJK SC"/>
              </a:defRPr>
            </a:pPr>
            <a:r>
              <a:t>硕士学位论文开题报告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789920" cy="1463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汇报人：程正爽    学号：2025240716</a:t>
            </a:r>
          </a:p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指导教师：黄文韬  讲师</a:t>
            </a:r>
          </a:p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汇报日期：2026年10月10日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汇报内容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0789920" cy="585216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01   研究背景：为什么关注地块内部差异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10789920" cy="585216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02   研究进展：已有研究提供了哪些依据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19856"/>
            <a:ext cx="10789920" cy="585216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03   研究目标与内容：长势、因素与管理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789920" cy="585216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04   研究方法：样地选择、观测与分析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92624"/>
            <a:ext cx="10789920" cy="585216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05   预期成果与进度安排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一｜研究背景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玉米稳产增产需要关注地块内部的生产差异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背景参考：韩晓增、李娜，2018；刘宝元等，2021。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从黑土区玉米生产出发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东北黑土区是我国重要的商品粮生产区。提高玉米单产，需要了解同一地块内部哪些位置仍有生产潜力。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长势是产量形成的过程表现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单次长势偏低不一定代表最终低产。多生育期观测与收获期测产结合，才能判断差异是否延续到产量。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以实际作业单元界定地块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本研究所说的地块，是边界明确、同季种植玉米且管理记录可核实的连续作业单元，不直接以影像图斑代替。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一｜研究背景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长势差异由多种因素形成，需要收敛研究范围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同一田片不一定具有相同的生产条件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经营主体、品种、播期、种植密度、施肥和机械作业，都可能造成长势差异。土壤基础条件也需要记录。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先降低非目标因素的干扰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选择经营管理相对一致的农场地块，核对实际作业边界；明显不同的作业条带单独划定或排除。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重点研究防护林距离和微地形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前者具有距林梯度，后者影响水分汇聚与再分配。土壤水分用于辅助解释二者与长势的关系。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一｜研究背景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前期距林差异还需通过多期观测和测产验证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依据：2026年10月7日讨论整理文档；本页不展示未经提供的数据。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92224"/>
            <a:ext cx="10881360" cy="86868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02020"/>
                </a:solidFill>
                <a:latin typeface="Noto Sans CJK SC"/>
              </a:defRPr>
            </a:pPr>
            <a:r>
              <a:t>前期无人机观察提示，不同距林位置的玉米 NDVI 有差别。</a:t>
            </a:r>
          </a:p>
          <a:p>
            <a:pPr>
              <a:spcAft>
                <a:spcPts val="800"/>
              </a:spcAft>
              <a:defRPr sz="2200" b="0">
                <a:solidFill>
                  <a:srgbClr val="202020"/>
                </a:solidFill>
                <a:latin typeface="Noto Sans CJK SC"/>
              </a:defRPr>
            </a:pPr>
            <a:r>
              <a:t>这一现象是本研究的出发点，还不能据此认定防护林是唯一原因。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这种差异在各生育期都存在吗？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10835640" cy="47548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重复观测同一位置，比较高、低长势区域是否持续出现。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13048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距林效应是否受到微地形影响？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42816"/>
            <a:ext cx="10835640" cy="47548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比较相近地形下的距林梯度，以及相近距林位置的地形差异。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45736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长势差异最终是否对应产量差异？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75504"/>
            <a:ext cx="10835640" cy="47548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收获期在对应样区测产，核查遥感长势与实际生产表现。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二｜国内外研究进展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植被指数便于连续观测，但不能直接代替产量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参考：Tucker，1979。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光谱信息可以描述冠层状态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红光和近红外组合可表征绿色植被状况，为连续观测作物长势提供基础。无人机便于在地块内按生育期重复获取影像。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同一指数在不同时期的含义并不完全相同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苗期容易受到土壤背景影响，冠层封闭后 NDVI 可能饱和；阴影和倒伏也会改变影像表现。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本研究采用影像与地面调查对应核查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以 NDVI 为连续观测指标，结合 LAI、株高和覆盖度；若红边波段可用，增加 NDRE 辅助判断，最终用产量验证。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二｜国内外研究进展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地形和防护林研究为田内差异分析提供依据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参考：Kravchenko &amp; Bullock，2000；Cleugh，1998；Jaynes et al.，2003。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地形与土壤条件需要联合考虑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Kravchenko 和 Bullock 将玉米、大豆产量与地形、土壤属性进行关联分析，说明田内产量差异不能只用单一变量解释。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防护林作用与距离和环境条件有关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Cleugh 综述了防护林对气流、微气候和作物产量的影响。防护与遮阴、竞争可能同时存在，不能预设近林区域必然增产。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持续差异要由重复观测识别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Jaynes 等利用多年产量图进行聚类分析。本研究采用生育期内多时相长势资料，不能据一季数据认定多年稳定高产区。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二｜国内外研究进展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本研究需要解释的是选定地块中的具体差异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10652760" cy="10241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已有方法能够用于长势监测和田内差异分析。本研究不以增加模型数量为目标，而是在管理相对一致的玉米地块中，把距林位置、微地形、多期长势和产量对应起来。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需要回答的具体问题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67328"/>
            <a:ext cx="108356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距林梯度是否随生育期变化？微地形是否改变这一关系？观察到的低长势位置是否也低产？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研究范围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01768"/>
            <a:ext cx="108356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重点分析防护林距离、微地形及其交互作用；土壤与管理记录用于辅助解释和降低混杂影响。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三｜研究目标与意义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以玉米长势及其影响因素为研究主线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在经营管理相对一致的玉米地块内，描述长势空间差异及生育期变化，重点分析防护林距离、微地形及二者交互作用与长势的关系。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385847"/>
                </a:solidFill>
                <a:latin typeface="Noto Sans CJK SC"/>
              </a:defRPr>
            </a:pPr>
            <a:r>
              <a:t>研究目标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835640" cy="86868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02020"/>
                </a:solidFill>
                <a:latin typeface="Noto Sans CJK SC"/>
              </a:defRPr>
            </a:pPr>
            <a:r>
              <a:t>明确玉米哪里长得好、哪里长得差，这种格局如何变化，以及变化与距林位置、微地形有何关系。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385847"/>
                </a:solidFill>
                <a:latin typeface="Noto Sans CJK SC"/>
              </a:defRPr>
            </a:pPr>
            <a:r>
              <a:t>研究意义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10835640" cy="86868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02020"/>
                </a:solidFill>
                <a:latin typeface="Noto Sans CJK SC"/>
              </a:defRPr>
            </a:pPr>
            <a:r>
              <a:t>补充地块内部长势与空间环境关系的观测资料；产量用于验证生产意义，管理建议作为研究结果的应用。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三｜研究内容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重点研究玉米长势差异及其影响因素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内容一  玉米长势空间差异及生育期变化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比较各期 NDVI 的空间分布、变异程度和聚集位置，识别持续偏高、持续偏低及变化明显的区域。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内容二  防护林距离和微地形的影响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分析距林梯度、相对高程与长势的关系，检验二者交互作用；结合同期水分和收获期产量解释结果。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内容三  差异化管理分区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综合多期长势、产量和限制因素划分管理单元，给出有依据的踏查、排水、水肥调控或后续试验建议。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四｜研究方法：样地选择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选择北安市统一管理、可重复调查的玉米地块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图源：原PPT第17页研究区图；候选样地尚未最终确定。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7" name="Picture 6" descr="original_17_3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47088"/>
            <a:ext cx="6446520" cy="2873306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7424927" y="1847088"/>
            <a:ext cx="4023360" cy="333756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候选区域</a:t>
            </a:r>
          </a:p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赵光农场或北安市其他统一管理农场。</a:t>
            </a:r>
          </a:p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选择条件</a:t>
            </a:r>
          </a:p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有完整防护林和可测微地形；作业边界清楚，管理记录可核实，能够完成多期航飞与测产。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652760" cy="86868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02020"/>
                </a:solidFill>
                <a:latin typeface="Noto Sans CJK SC"/>
              </a:defRPr>
            </a:pPr>
            <a:r>
              <a:t>拟调查 4—6 个地块。最终数量由地块面积、距林与地形组合、航飞许可和田间工作量共同确定。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四｜研究方法：样地选择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样地选择用于降低管理差异带来的干扰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01368"/>
          <a:ext cx="109270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686800"/>
              </a:tblGrid>
              <a:tr h="65836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核对内容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选择或处理原则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经营与作业边界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优先选择统一管理的连续作业单元，不直接合并不同承包户的田片。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品种、播期与密度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尽量选择条件相近的地块；保留实际记录，不宣称完全一致。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施肥、耕作与机械作业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核对剂量、时间和作业条带；明显不一致区域单独划定或排除。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防护林与微地形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林带完整且可测量，地块内能够覆盖不同距林位置和相对高低位置。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调查与测产条件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确认航飞许可、重复进场、农事记录和成熟期样区收获的可行性。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从对应观测到因素分析，再形成管理分区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783080"/>
            <a:ext cx="6400800" cy="566928"/>
          </a:xfrm>
          <a:prstGeom prst="rect">
            <a:avLst/>
          </a:prstGeom>
          <a:solidFill>
            <a:srgbClr val="EFF3EF"/>
          </a:solidFill>
          <a:ln>
            <a:solidFill>
              <a:srgbClr val="CC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2000">
                <a:solidFill>
                  <a:srgbClr val="202020"/>
                </a:solidFill>
                <a:latin typeface="Noto Sans CJK SC"/>
              </a:defRPr>
            </a:pPr>
            <a:r>
              <a:t>核实作业边界与管理记录，确定调查地块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88920"/>
            <a:ext cx="3493008" cy="914400"/>
          </a:xfrm>
          <a:prstGeom prst="rect">
            <a:avLst/>
          </a:prstGeom>
          <a:solidFill>
            <a:srgbClr val="FFFFFF"/>
          </a:solidFill>
          <a:ln>
            <a:solidFill>
              <a:srgbClr val="CC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2000">
                <a:solidFill>
                  <a:srgbClr val="202020"/>
                </a:solidFill>
                <a:latin typeface="Noto Sans CJK SC"/>
              </a:defRPr>
            </a:pPr>
            <a:r>
              <a:t>多期无人机影像</a:t>
            </a:r>
            <a:br/>
            <a:r>
              <a:t>＋地面长势调查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432304" y="2350008"/>
            <a:ext cx="3648456" cy="438912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32304" y="3703320"/>
            <a:ext cx="3648456" cy="466343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25112" y="2788920"/>
            <a:ext cx="3493008" cy="914400"/>
          </a:xfrm>
          <a:prstGeom prst="rect">
            <a:avLst/>
          </a:prstGeom>
          <a:solidFill>
            <a:srgbClr val="FFFFFF"/>
          </a:solidFill>
          <a:ln>
            <a:solidFill>
              <a:srgbClr val="CC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2000">
                <a:solidFill>
                  <a:srgbClr val="202020"/>
                </a:solidFill>
                <a:latin typeface="Noto Sans CJK SC"/>
              </a:defRPr>
            </a:pPr>
            <a:r>
              <a:t>林带距离、微地形</a:t>
            </a:r>
            <a:br/>
            <a:r>
              <a:t>＋同期水分调查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71616" y="2350008"/>
            <a:ext cx="9144" cy="438912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71616" y="3703320"/>
            <a:ext cx="9144" cy="466343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955279" y="2788920"/>
            <a:ext cx="3493008" cy="914400"/>
          </a:xfrm>
          <a:prstGeom prst="rect">
            <a:avLst/>
          </a:prstGeom>
          <a:solidFill>
            <a:srgbClr val="FFFFFF"/>
          </a:solidFill>
          <a:ln>
            <a:solidFill>
              <a:srgbClr val="CC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2000">
                <a:solidFill>
                  <a:srgbClr val="202020"/>
                </a:solidFill>
                <a:latin typeface="Noto Sans CJK SC"/>
              </a:defRPr>
            </a:pPr>
            <a:r>
              <a:t>收获期对应测产</a:t>
            </a:r>
            <a:br/>
            <a:r>
              <a:t>＋农事与异常记录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350008"/>
            <a:ext cx="3621024" cy="438912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080760" y="3703320"/>
            <a:ext cx="3621024" cy="466343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377440" y="4169663"/>
            <a:ext cx="7406640" cy="749808"/>
          </a:xfrm>
          <a:prstGeom prst="rect">
            <a:avLst/>
          </a:prstGeom>
          <a:solidFill>
            <a:srgbClr val="EFF3EF"/>
          </a:solidFill>
          <a:ln>
            <a:solidFill>
              <a:srgbClr val="CC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2000">
                <a:solidFill>
                  <a:srgbClr val="202020"/>
                </a:solidFill>
                <a:latin typeface="Noto Sans CJK SC"/>
              </a:defRPr>
            </a:pPr>
            <a:r>
              <a:t>比较长势格局，分析距林×微地形关系，核查产量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4919472"/>
            <a:ext cx="0" cy="356616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880360" y="5276088"/>
            <a:ext cx="6400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C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2000">
                <a:solidFill>
                  <a:srgbClr val="202020"/>
                </a:solidFill>
                <a:latin typeface="Noto Sans CJK SC"/>
              </a:defRPr>
            </a:pPr>
            <a:r>
              <a:t>划分管理单元，提出现场核查与管理建议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四｜研究方法：长势获取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在四个生育阶段重复获取影像和地面长势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01368"/>
          <a:ext cx="109270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17720"/>
                <a:gridCol w="4480560"/>
              </a:tblGrid>
              <a:tr h="74066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观测阶段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主要任务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地面对应调查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出苗后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记录苗情与缺苗，注意土壤背景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株高、覆盖度；LAI按测量条件获取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拔节期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比较长势分化及距林梯度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LAI、株高、覆盖度、同期土壤水分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抽雄吐丝期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比较冠层差异，关注NDVI饱和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LAI、株高、覆盖度、同期土壤水分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灌浆期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判断差异是否持续或发生变化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LAI、覆盖度、水分、倒伏与病虫记录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696712"/>
            <a:ext cx="1083564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06060"/>
                </a:solidFill>
                <a:latin typeface="Noto Sans CJK SC"/>
              </a:defRPr>
            </a:pPr>
            <a:r>
              <a:t>尽量同日完成航飞和地面调查；保持相近航高、光照时段，并记录降水和农事事件。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四｜研究方法：长势获取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先保证多期数据可比，再判断长势差异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影像处理与指标获取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完成辐射校正、正射拼接及多期配准；剔除道路、沟渠等非作物区域，单独标记林带阴影和异常作业区。计算 NDVI，条件允许时增加 NDRE。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与地面调查对应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按坐标提取样区影像均值，与同期 LAI、株高和覆盖度核查。提取范围匹配实测样区，避免把单像元与整片样区直接比较。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空间格局与生育期变化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保留指数原始值和各期地块内标准化值；比较变异系数、Moran’s I 与局部聚集位置，识别相对高低值区及变化类型。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四｜研究方法：影响因素调查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距林距离与微地形需在同一坐标下获取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01368"/>
          <a:ext cx="109270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92040"/>
                <a:gridCol w="4206240"/>
              </a:tblGrid>
              <a:tr h="9144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变量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获取方式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分析时注意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距林位置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测量距林垂直距离d、林高H，计算d/H；记录林带方向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不同林高下的米制距离不可直接等同；记录阴影范围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微地形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裸土期摄影测量结合地面高程核查；提取相对高程、坡度和坡位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生长季冠层DSM不能直接作为地面高程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土壤水分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与每期航飞同步，固定深度和方法重复测定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作为可能的过程指标；同期测量不能直接证明中介因果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基础土壤与管理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测定必要的土壤属性；核对管理和异常事件记录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用于协变量与现场解释，避免扩展成所有因素的驱动分析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四｜研究方法：影响因素调查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样点同时覆盖距林梯度和相对高低位置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布点示意，不代表真实地块尺寸、地形分布或已完成的样点。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48256"/>
            <a:ext cx="548640" cy="2999232"/>
          </a:xfrm>
          <a:prstGeom prst="rect">
            <a:avLst/>
          </a:prstGeom>
          <a:solidFill>
            <a:srgbClr val="EFF3EF"/>
          </a:solidFill>
          <a:ln>
            <a:solidFill>
              <a:srgbClr val="CC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800">
                <a:solidFill>
                  <a:srgbClr val="202020"/>
                </a:solidFill>
                <a:latin typeface="Noto Sans CJK SC"/>
              </a:defRPr>
            </a:pPr>
            <a:r>
              <a:t>防</a:t>
            </a:r>
            <a:br/>
            <a:r>
              <a:t>护</a:t>
            </a:r>
            <a:br/>
            <a:r>
              <a:t>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92224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6060"/>
                </a:solidFill>
                <a:latin typeface="Noto Sans CJK SC"/>
              </a:defRPr>
            </a:pPr>
            <a:r>
              <a:t>0.5H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331720"/>
            <a:ext cx="0" cy="2670048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773936" y="2633472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3936" y="3520440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73936" y="4407408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792224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6060"/>
                </a:solidFill>
                <a:latin typeface="Noto Sans CJK SC"/>
              </a:defRPr>
            </a:pPr>
            <a:r>
              <a:t>1H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331720"/>
            <a:ext cx="0" cy="2670048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62656" y="2633472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62656" y="3520440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2656" y="4407408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792224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6060"/>
                </a:solidFill>
                <a:latin typeface="Noto Sans CJK SC"/>
              </a:defRPr>
            </a:pPr>
            <a:r>
              <a:t>2H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6240" y="2331720"/>
            <a:ext cx="0" cy="2670048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151376" y="2633472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51376" y="3520440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51376" y="4407408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92224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6060"/>
                </a:solidFill>
                <a:latin typeface="Noto Sans CJK SC"/>
              </a:defRPr>
            </a:pPr>
            <a:r>
              <a:t>3H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2331720"/>
            <a:ext cx="0" cy="2670048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340096" y="2633472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40096" y="3520440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40096" y="4407408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792224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6060"/>
                </a:solidFill>
                <a:latin typeface="Noto Sans CJK SC"/>
              </a:defRPr>
            </a:pPr>
            <a:r>
              <a:t>5H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0" y="2331720"/>
            <a:ext cx="0" cy="2670048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28816" y="2633472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28816" y="3520440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28816" y="4407408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1792224"/>
            <a:ext cx="822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6060"/>
                </a:solidFill>
                <a:latin typeface="Noto Sans CJK SC"/>
              </a:defRPr>
            </a:pPr>
            <a:r>
              <a:t>8H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2400" y="2331720"/>
            <a:ext cx="0" cy="2670048"/>
          </a:xfrm>
          <a:prstGeom prst="line">
            <a:avLst/>
          </a:prstGeom>
          <a:ln w="12700">
            <a:solidFill>
              <a:srgbClr val="CCD5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717536" y="2633472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17536" y="3520440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17536" y="4407408"/>
            <a:ext cx="109728" cy="109728"/>
          </a:xfrm>
          <a:prstGeom prst="ellipse">
            <a:avLst/>
          </a:prstGeom>
          <a:solidFill>
            <a:srgbClr val="385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2468880"/>
            <a:ext cx="2743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相对高位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355848"/>
            <a:ext cx="2743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中间位置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242816"/>
            <a:ext cx="27432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相对低位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413248"/>
            <a:ext cx="10835640" cy="6858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每地块初拟 20—30 个基础样点，按真实地形分层布设；缺少的距林×地形组合需记录，不能由模型替代实地覆盖。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四｜研究方法：影响因素调查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基础样点连续复测，补充样点用于核查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01368"/>
          <a:ext cx="109270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5074920"/>
              </a:tblGrid>
              <a:tr h="69494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调查项目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时间与频次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操作原则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基础样点长势与水分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四个生育阶段同步调查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记录GNSS坐标、行垄位置和照片，在对应范围复测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土壤水分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每次航飞同步；0—20 cm为基础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条件允许增加20—40 cm；统一深度、仪器和方法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基础土壤属性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生育季前或收获后1次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优先pH、有机质、质地及必要养分；项目由先导调查确定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异常区补充调查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前2—3期后，初拟10—20点/地块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优先低值、突变或类型边界；单独标记，不冒充完整时间序列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成熟期产量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收获期1次，与长势样区对应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记录收获面积、鲜重与含水率，统一面积和水分基准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四｜研究方法：影响因素分析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先分析距林和地形，再检验二者交互作用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9656"/>
            <a:ext cx="106984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385847"/>
                </a:solidFill>
                <a:latin typeface="Noto Sans CJK SC"/>
              </a:defRPr>
            </a:pPr>
            <a:r>
              <a:t>长势指标 ～ 距林距离 ＋ 微地形 ＋ 距林×微地形 ＋ 生育期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先看观测关系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81528"/>
            <a:ext cx="10835640" cy="621792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分生育期比较距林梯度；在相近地形内比较不同距离，在相近距离内比较不同相对高程。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3075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再开展联合分析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835640" cy="621792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以混合效应模型为主，按地块和重复样点考虑相关性；检查变量共线性、交互作用及残差空间自相关。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09744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谨慎解释结果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39512"/>
            <a:ext cx="10835640" cy="621792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基础土壤与管理记录作为协变量。同期水分用于辅助解释；仅在明显非线性且样本量支持时使用 GAMM。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四｜辅助验证：收获期产量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用对应样区测产检验长势差异的生产意义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测产与长势样区一一对应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成熟期按统一收获面积取样，记录穗数、籽粒重量和含水率；折算到统一水分基准和单位面积，保留原始记录。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比较各生育期长势与最终产量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建立不同阶段 NDVI 与产量的关系，比较持续低长势区是否低产；若二者不一致，回查物候、倒伏、病虫和管理记录。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385847"/>
                </a:solidFill>
                <a:latin typeface="Noto Sans CJK SC"/>
              </a:defRPr>
            </a:pPr>
            <a:r>
              <a:t>验证采用空间分块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020"/>
                </a:solidFill>
                <a:latin typeface="Noto Sans CJK SC"/>
              </a:defRPr>
            </a:pPr>
            <a:r>
              <a:t>若建立预测模型，采用空间分块交叉验证，避免相邻样点分到训练集和验证集；地块数允许时增加留一地块验证，报告 R²、RMSE 和 MAE。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四｜结果应用：差异化管理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按长势、产量和限制因素形成管理单元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01368"/>
          <a:ext cx="109270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434840"/>
              </a:tblGrid>
              <a:tr h="70408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拟划分类型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判定依据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管理建议的形成方式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本季持续优势区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多期长势较好，测产结果支持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保持当前管理，监测是否出现异常变化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本季持续低长势区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多期长势偏低，结合产量核查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优先踏查，区分缺苗、病虫、作业与环境限制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近林限制区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低长势与距林关系较一致，现场核查支持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结合遮阴与竞争情况提出边缘管理或后续对照试验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低位或水分限制区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地形、水分记录与长势、产量变化对应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积水证据充分时建议排水；水肥措施需诊断后确定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长势波动区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不同阶段表现变化较大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核对降雨和农事事件，下一季继续观测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四｜质量控制与研究边界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定位、配准和验证决定结果能否解释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记录可追溯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保存坐标、样区范围、照片、调查时间、仪器与农事记录。异常值仅在确认为测量或定位错误后剔除。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空间分析可比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多期影像统一坐标与配准；地形高程核查精度；阴影、边界和明显作业条带单独标记。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结论不超过数据支持范围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一季多期观测描述本季持续性，不认定多年稳定分区；统计相关不直接证明因果，分区建议也不等于已验证增产效果。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五｜预期成果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预期形成长势图、因素分析和管理建议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多生育期玉米长势图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展示地块内相对高低值位置及其变化，附地面核查资料和指标适用范围。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距林与微地形关系分析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给出不同生育期的距林梯度、地形差异及交互关系，说明水分和产量观测是否支持解释。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0881360" cy="38404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85847"/>
                </a:solidFill>
                <a:latin typeface="Noto Sans CJK SC"/>
              </a:defRPr>
            </a:pPr>
            <a:r>
              <a:t>差异化管理分区及核查清单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083564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02020"/>
                </a:solidFill>
                <a:latin typeface="Noto Sans CJK SC"/>
              </a:defRPr>
            </a:pPr>
            <a:r>
              <a:t>形成管理单元图与对应建议，列明需要踏查的位置、判断依据和仍需后续试验验证的措施。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五｜进度安排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进度按完整玉米生育季安排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以下为拟定安排，田间时间以当地实际物候和调查条件为准。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01368"/>
          <a:ext cx="1092708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5486400"/>
                <a:gridCol w="3200400"/>
              </a:tblGrid>
              <a:tr h="5760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时间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主要工作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阶段成果</a:t>
                      </a:r>
                    </a:p>
                  </a:txBody>
                  <a:tcPr marL="91440" marR="91440" marT="64008" marB="64008" anchor="ctr">
                    <a:solidFill>
                      <a:srgbClr val="EFF3E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2026.10—2026.12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完善开题；核对文献、设备、样地与进场条件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研究方案、采样与记录表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2027.01—2027.04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落实样地与管理记录；准备裸土地形测量和先导调查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样地边界、地形核查和布点方案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2027.05—2027.09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按物候完成四期航飞与同期田间调查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多期影像、长势、水分与农事记录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2027.09—2027.10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按成熟期完成对应测产与必要的补充调查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同坐标样区产量及异常核查资料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2027.11—2028.02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完成统计分析、产量验证与管理分区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结果图表与论文初稿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2028.03—2028.06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修改论文、复核结论并准备答辩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02020"/>
                          </a:solidFill>
                          <a:latin typeface="Noto Sans CJK SC"/>
                        </a:defRPr>
                      </a:pPr>
                      <a:r>
                        <a:t>学位论文与答辩材料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主要参考文献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10881360" cy="5669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  <a:latin typeface="Noto Sans CJK SC"/>
              </a:defRPr>
            </a:pPr>
            <a:r>
              <a:t>[1] 韩晓增，李娜. 2018. 中国东北黑土地研究进展与展望. 地理科学，38(7)：1032–1041.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82012"/>
            <a:ext cx="10881360" cy="5669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  <a:latin typeface="Noto Sans CJK SC"/>
              </a:defRPr>
            </a:pPr>
            <a:r>
              <a:t>[2] 刘宝元，张甘霖，谢云，等. 2021. 东北黑土区和东北典型黑土区的范围与划界. 科学通报，66(1)：96–106.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0088"/>
            <a:ext cx="10881360" cy="5669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  <a:latin typeface="Noto Sans CJK SC"/>
              </a:defRPr>
            </a:pPr>
            <a:r>
              <a:t>[3] Tucker C J. 1979. Red and photographic infrared linear combinations for monitoring vegetation. Remote Sensing of Environment, 8(2): 127–150.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98164"/>
            <a:ext cx="10881360" cy="5669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  <a:latin typeface="Noto Sans CJK SC"/>
              </a:defRPr>
            </a:pPr>
            <a:r>
              <a:t>[4] Cleugh H A. 1998. Effects of windbreaks on airflow, microclimates and crop yields. Agroforestry Systems, 41: 55–84.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10881360" cy="5669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  <a:latin typeface="Noto Sans CJK SC"/>
              </a:defRPr>
            </a:pPr>
            <a:r>
              <a:t>[5] Kravchenko A N, Bullock D G. 2000. Correlation of corn and soybean grain yield with topography and soil properties. Agronomy Journal, 92(1): 75–83.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14316"/>
            <a:ext cx="10881360" cy="5669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  <a:latin typeface="Noto Sans CJK SC"/>
              </a:defRPr>
            </a:pPr>
            <a:r>
              <a:t>[6] Jaynes D B, Kaspar T C, Colvin T S, James D E. 2003. Cluster analysis of spatiotemporal corn yield patterns in an Iowa field. Agronomy Journal, 95(3): 574–586.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22392"/>
            <a:ext cx="10881360" cy="566928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020"/>
                </a:solidFill>
                <a:latin typeface="Noto Sans CJK SC"/>
              </a:defRPr>
            </a:pPr>
            <a:r>
              <a:t>[7] Moran P A P. 1950. Notes on continuous stochastic phenomena. Biometrika, 37(1/2): 17–23.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88136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6060"/>
                </a:solidFill>
                <a:latin typeface="Noto Sans CJK SC"/>
              </a:defRPr>
            </a:pPr>
            <a:r>
              <a:t>沈阳农业大学｜资源利用与植物保护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02020"/>
                </a:solidFill>
                <a:latin typeface="Noto Sans CJK SC"/>
              </a:defRPr>
            </a:pPr>
            <a:r>
              <a:t>敬请各位老师批评指正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90472"/>
            <a:ext cx="11082528" cy="0"/>
          </a:xfrm>
          <a:prstGeom prst="line">
            <a:avLst/>
          </a:prstGeom>
          <a:ln w="20320">
            <a:solidFill>
              <a:srgbClr val="3858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291072"/>
            <a:ext cx="10515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6060"/>
                </a:solidFill>
                <a:latin typeface="Noto Sans CJK SC"/>
              </a:defRPr>
            </a:pPr>
            <a:r>
              <a:t>程正爽｜硕士学位论文开题报告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91072"/>
            <a:ext cx="457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6060"/>
                </a:solidFill>
                <a:latin typeface="Noto Sans CJK SC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9848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385847"/>
                </a:solidFill>
                <a:latin typeface="Noto Sans CJK SC"/>
              </a:defRPr>
            </a:pPr>
            <a:r>
              <a:t>程正爽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82112"/>
            <a:ext cx="10698480" cy="1508760"/>
          </a:xfrm>
          <a:prstGeom prst="rect">
            <a:avLst/>
          </a:prstGeom>
          <a:noFill/>
          <a:effectLst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本研究围绕三个问题展开：</a:t>
            </a:r>
          </a:p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哪里存在长势差异？</a:t>
            </a:r>
          </a:p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这些差异与防护林距离、微地形有何关系？</a:t>
            </a:r>
          </a:p>
          <a:p>
            <a:pPr>
              <a:spcAft>
                <a:spcPts val="800"/>
              </a:spcAft>
              <a:defRPr sz="2400" b="0">
                <a:solidFill>
                  <a:srgbClr val="202020"/>
                </a:solidFill>
                <a:latin typeface="Noto Sans CJK SC"/>
              </a:defRPr>
            </a:pPr>
            <a:r>
              <a:t>如何结合产量和现场调查提出管理建议？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